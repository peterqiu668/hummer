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0ADDC"/>
          </a:solidFill>
          <a:ln>
            <a:solidFill>
              <a:srgbClr val="30A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4114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30ADDC"/>
                </a:solidFill>
                <a:latin typeface="Microsoft YaHei"/>
              </a:rPr>
              <a:t>HUMMER · 交付评审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9875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MVP 交付进度与决策简报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8046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BECDE4"/>
                </a:solidFill>
                <a:latin typeface="Microsoft YaHei"/>
              </a:rPr>
              <a:t>从 React 原型迈向可信 AI 原生组织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246120"/>
            <a:ext cx="2743200" cy="54864"/>
          </a:xfrm>
          <a:prstGeom prst="rect">
            <a:avLst/>
          </a:prstGeom>
          <a:solidFill>
            <a:srgbClr val="30ADDC"/>
          </a:solidFill>
          <a:ln>
            <a:solidFill>
              <a:srgbClr val="30A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88620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99AAC4"/>
                </a:solidFill>
                <a:latin typeface="Microsoft YaHei"/>
              </a:rPr>
              <a:t>评审日期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224528"/>
            <a:ext cx="2926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2026 年 9 月 13 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388620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99AAC4"/>
                </a:solidFill>
                <a:latin typeface="Microsoft YaHei"/>
              </a:rPr>
              <a:t>评审范围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4224528"/>
            <a:ext cx="2926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MVP 交付就绪度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17220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9AAC4"/>
                </a:solidFill>
                <a:latin typeface="Microsoft YaHei"/>
              </a:rPr>
              <a:t>内部评审 · 决策材料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B5CAA"/>
          </a:solidFill>
          <a:ln>
            <a:solidFill>
              <a:srgbClr val="2B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B5CAA"/>
                </a:solidFill>
                <a:latin typeface="Microsoft YaHei"/>
              </a:rPr>
              <a:t>DELIVERY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67512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13D"/>
                </a:solidFill>
                <a:latin typeface="Microsoft YaHei"/>
              </a:rPr>
              <a:t>当前进展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10972800" cy="13716"/>
          </a:xfrm>
          <a:prstGeom prst="rect">
            <a:avLst/>
          </a:prstGeom>
          <a:solidFill>
            <a:srgbClr val="D7DFE9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61320" y="438912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Microsoft YaHei"/>
              </a:rPr>
              <a:t>02  / 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338328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2B5CAA"/>
                </a:solidFill>
                <a:latin typeface="Microsoft YaHei"/>
              </a:rPr>
              <a:t>80%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1952" y="1865376"/>
            <a:ext cx="1828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Microsoft YaHei"/>
              </a:rPr>
              <a:t>核心事实模型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14600"/>
            <a:ext cx="2880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WorkOrder、DomainEvent、Evidence 已形成主链路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27632"/>
            <a:ext cx="338328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28800"/>
            <a:ext cx="1051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2B5CAA"/>
                </a:solidFill>
                <a:latin typeface="Microsoft YaHei"/>
              </a:rPr>
              <a:t>65%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05272" y="1865376"/>
            <a:ext cx="1828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Microsoft YaHei"/>
              </a:rPr>
              <a:t>审批闭环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14600"/>
            <a:ext cx="2880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高风险动作默认拒绝，审批记录接入中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627632"/>
            <a:ext cx="338328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828800"/>
            <a:ext cx="1051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2B5CAA"/>
                </a:solidFill>
                <a:latin typeface="Microsoft YaHei"/>
              </a:rPr>
              <a:t>55%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08592" y="1865376"/>
            <a:ext cx="1828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Microsoft YaHei"/>
              </a:rPr>
              <a:t>结果交付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514600"/>
            <a:ext cx="2880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ResultPackage 结构已明确，导出体验待补齐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58768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Microsoft YaHei"/>
              </a:rPr>
              <a:t>本期完成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315968"/>
            <a:ext cx="384048" cy="384048"/>
          </a:xfrm>
          <a:prstGeom prst="roundRect">
            <a:avLst/>
          </a:prstGeom>
          <a:solidFill>
            <a:srgbClr val="2B5CAA"/>
          </a:solidFill>
          <a:ln>
            <a:solidFill>
              <a:srgbClr val="2B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31596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297680"/>
            <a:ext cx="97840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Microsoft YaHei"/>
              </a:rPr>
              <a:t>前端保留既有 Vite + React + TypeScript 架构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919472"/>
            <a:ext cx="384048" cy="384048"/>
          </a:xfrm>
          <a:prstGeom prst="roundRect">
            <a:avLst/>
          </a:prstGeom>
          <a:solidFill>
            <a:srgbClr val="2B5CAA"/>
          </a:solidFill>
          <a:ln>
            <a:solidFill>
              <a:srgbClr val="2B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91947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901184"/>
            <a:ext cx="97840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Microsoft YaHei"/>
              </a:rPr>
              <a:t>运行时能力统一收敛至 RuntimeAdapter 边界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522976"/>
            <a:ext cx="384048" cy="384048"/>
          </a:xfrm>
          <a:prstGeom prst="roundRect">
            <a:avLst/>
          </a:prstGeom>
          <a:solidFill>
            <a:srgbClr val="2B5CAA"/>
          </a:solidFill>
          <a:ln>
            <a:solidFill>
              <a:srgbClr val="2B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552297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504688"/>
            <a:ext cx="97840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Microsoft YaHei"/>
              </a:rPr>
              <a:t>租户隔离与事件留痕纳入交付验收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B5CAA"/>
          </a:solidFill>
          <a:ln>
            <a:solidFill>
              <a:srgbClr val="2B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B5CAA"/>
                </a:solidFill>
                <a:latin typeface="Microsoft YaHei"/>
              </a:rPr>
              <a:t>RISKS &amp;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67512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13D"/>
                </a:solidFill>
                <a:latin typeface="Microsoft YaHei"/>
              </a:rPr>
              <a:t>主要风险与处置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10972800" cy="13716"/>
          </a:xfrm>
          <a:prstGeom prst="rect">
            <a:avLst/>
          </a:prstGeom>
          <a:solidFill>
            <a:srgbClr val="D7DFE9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61320" y="438912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Microsoft YaHei"/>
              </a:rPr>
              <a:t>03  / 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640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Microsoft YaHei"/>
              </a:rPr>
              <a:t>级别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572768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Microsoft YaHei"/>
              </a:rPr>
              <a:t>风险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572768"/>
            <a:ext cx="3337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Microsoft YaHei"/>
              </a:rPr>
              <a:t>当前暴露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572768"/>
            <a:ext cx="3840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Microsoft YaHei"/>
              </a:rPr>
              <a:t>处置动作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993392"/>
            <a:ext cx="512064" cy="512064"/>
          </a:xfrm>
          <a:prstGeom prst="roundRect">
            <a:avLst/>
          </a:prstGeom>
          <a:solidFill>
            <a:srgbClr val="C94A43"/>
          </a:solidFill>
          <a:ln>
            <a:solidFill>
              <a:srgbClr val="C94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993392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993392"/>
            <a:ext cx="16459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4213D"/>
                </a:solidFill>
                <a:latin typeface="Microsoft YaHei"/>
              </a:rPr>
              <a:t>审批绕过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956816"/>
            <a:ext cx="31546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个别动作仍可能从 UI 直达执行层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1956816"/>
            <a:ext cx="393192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统一经命令入口校验；无 Approval 即拒绝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779776"/>
            <a:ext cx="10378440" cy="10972"/>
          </a:xfrm>
          <a:prstGeom prst="rect">
            <a:avLst/>
          </a:prstGeom>
          <a:solidFill>
            <a:srgbClr val="D7DFE9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" y="3017520"/>
            <a:ext cx="512064" cy="512064"/>
          </a:xfrm>
          <a:prstGeom prst="roundRect">
            <a:avLst/>
          </a:prstGeom>
          <a:solidFill>
            <a:srgbClr val="E09726"/>
          </a:solidFill>
          <a:ln>
            <a:solidFill>
              <a:srgbClr val="E09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017520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017520"/>
            <a:ext cx="16459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4213D"/>
                </a:solidFill>
                <a:latin typeface="Microsoft YaHei"/>
              </a:rPr>
              <a:t>事件完整性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980944"/>
            <a:ext cx="31546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边缘流程的状态变化尚未全部发出事件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2980944"/>
            <a:ext cx="393192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补充回归测试并核对事件覆盖矩阵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803904"/>
            <a:ext cx="10378440" cy="10972"/>
          </a:xfrm>
          <a:prstGeom prst="rect">
            <a:avLst/>
          </a:prstGeom>
          <a:solidFill>
            <a:srgbClr val="D7DFE9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4041648"/>
            <a:ext cx="512064" cy="512064"/>
          </a:xfrm>
          <a:prstGeom prst="roundRect">
            <a:avLst/>
          </a:prstGeom>
          <a:solidFill>
            <a:srgbClr val="E09726"/>
          </a:solidFill>
          <a:ln>
            <a:solidFill>
              <a:srgbClr val="E09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041648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041648"/>
            <a:ext cx="16459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4213D"/>
                </a:solidFill>
                <a:latin typeface="Microsoft YaHei"/>
              </a:rPr>
              <a:t>租户隔离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005072"/>
            <a:ext cx="31546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测试数据的跨租户负例覆盖不足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005072"/>
            <a:ext cx="393192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增加 API 与存储层双重隔离验证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828032"/>
            <a:ext cx="10378440" cy="10972"/>
          </a:xfrm>
          <a:prstGeom prst="rect">
            <a:avLst/>
          </a:prstGeom>
          <a:solidFill>
            <a:srgbClr val="D7DFE9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8368" y="5065776"/>
            <a:ext cx="512064" cy="512064"/>
          </a:xfrm>
          <a:prstGeom prst="roundRect">
            <a:avLst/>
          </a:prstGeom>
          <a:solidFill>
            <a:srgbClr val="28996C"/>
          </a:solidFill>
          <a:ln>
            <a:solidFill>
              <a:srgbClr val="289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506577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065776"/>
            <a:ext cx="16459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4213D"/>
                </a:solidFill>
                <a:latin typeface="Microsoft YaHei"/>
              </a:rPr>
              <a:t>供应商耦合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5029200"/>
            <a:ext cx="31546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局部适配代码仍暴露具体运行时概念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5029200"/>
            <a:ext cx="393192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收口至 RuntimeAdapter 并清理领域依赖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852160"/>
            <a:ext cx="10378440" cy="10972"/>
          </a:xfrm>
          <a:prstGeom prst="rect">
            <a:avLst/>
          </a:prstGeom>
          <a:solidFill>
            <a:srgbClr val="D7DFE9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B5CAA"/>
          </a:solidFill>
          <a:ln>
            <a:solidFill>
              <a:srgbClr val="2B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B5CAA"/>
                </a:solidFill>
                <a:latin typeface="Microsoft YaHei"/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67512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13D"/>
                </a:solidFill>
                <a:latin typeface="Microsoft YaHei"/>
              </a:rPr>
              <a:t>财务概览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10972800" cy="13716"/>
          </a:xfrm>
          <a:prstGeom prst="rect">
            <a:avLst/>
          </a:prstGeom>
          <a:solidFill>
            <a:srgbClr val="D7DFE9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61320" y="438912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Microsoft YaHei"/>
              </a:rPr>
              <a:t>04  / 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27632"/>
            <a:ext cx="3383280" cy="1298448"/>
          </a:xfrm>
          <a:prstGeom prst="roundRect">
            <a:avLst/>
          </a:prstGeom>
          <a:solidFill>
            <a:srgbClr val="F1F5F9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10512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Microsoft YaHei"/>
              </a:rPr>
              <a:t>本期预算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76272"/>
            <a:ext cx="274320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64748B"/>
                </a:solidFill>
                <a:latin typeface="Microsoft YaHei"/>
              </a:rPr>
              <a:t>¥ 480,000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627632"/>
            <a:ext cx="3383280" cy="1298448"/>
          </a:xfrm>
          <a:prstGeom prst="roundRect">
            <a:avLst/>
          </a:prstGeom>
          <a:solidFill>
            <a:srgbClr val="F1F5F9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810512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Microsoft YaHei"/>
              </a:rPr>
              <a:t>已发生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176272"/>
            <a:ext cx="274320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B5CAA"/>
                </a:solidFill>
                <a:latin typeface="Microsoft YaHei"/>
              </a:rPr>
              <a:t>¥ 312,000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627632"/>
            <a:ext cx="3383280" cy="1298448"/>
          </a:xfrm>
          <a:prstGeom prst="roundRect">
            <a:avLst/>
          </a:prstGeom>
          <a:solidFill>
            <a:srgbClr val="F1F5F9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1810512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Microsoft YaHei"/>
              </a:rPr>
              <a:t>预算余额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2176272"/>
            <a:ext cx="274320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8996C"/>
                </a:solidFill>
                <a:latin typeface="Microsoft YaHei"/>
              </a:rPr>
              <a:t>¥ 168,000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328416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Microsoft YaHei"/>
              </a:rPr>
              <a:t>成本结构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22191"/>
            <a:ext cx="14630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研发与测试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8840" y="3886200"/>
            <a:ext cx="6080760" cy="164592"/>
          </a:xfrm>
          <a:prstGeom prst="roundRect">
            <a:avLst/>
          </a:prstGeom>
          <a:solidFill>
            <a:srgbClr val="D7DFE9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148840" y="3886200"/>
            <a:ext cx="5417404" cy="164592"/>
          </a:xfrm>
          <a:prstGeom prst="roundRect">
            <a:avLst/>
          </a:prstGeom>
          <a:solidFill>
            <a:srgbClr val="2B5CAA"/>
          </a:solidFill>
          <a:ln>
            <a:solidFill>
              <a:srgbClr val="2B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3785615"/>
            <a:ext cx="12344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14213D"/>
                </a:solidFill>
                <a:latin typeface="Microsoft YaHei"/>
              </a:rPr>
              <a:t>¥ 196,000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40" y="3785615"/>
            <a:ext cx="6858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Microsoft YaHei"/>
              </a:rPr>
              <a:t>63%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389120"/>
            <a:ext cx="14630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基础设施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48840" y="4453128"/>
            <a:ext cx="6080760" cy="164592"/>
          </a:xfrm>
          <a:prstGeom prst="roundRect">
            <a:avLst/>
          </a:prstGeom>
          <a:solidFill>
            <a:srgbClr val="D7DFE9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148840" y="4453128"/>
            <a:ext cx="1603109" cy="164592"/>
          </a:xfrm>
          <a:prstGeom prst="roundRect">
            <a:avLst/>
          </a:prstGeom>
          <a:solidFill>
            <a:srgbClr val="30ADDC"/>
          </a:solidFill>
          <a:ln>
            <a:solidFill>
              <a:srgbClr val="30A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4352544"/>
            <a:ext cx="12344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14213D"/>
                </a:solidFill>
                <a:latin typeface="Microsoft YaHei"/>
              </a:rPr>
              <a:t>¥ 58,000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4352544"/>
            <a:ext cx="6858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Microsoft YaHei"/>
              </a:rPr>
              <a:t>19%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4956048"/>
            <a:ext cx="14630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安全与合规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48840" y="5020056"/>
            <a:ext cx="6080760" cy="164592"/>
          </a:xfrm>
          <a:prstGeom prst="roundRect">
            <a:avLst/>
          </a:prstGeom>
          <a:solidFill>
            <a:srgbClr val="D7DFE9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148840" y="5020056"/>
            <a:ext cx="995033" cy="164592"/>
          </a:xfrm>
          <a:prstGeom prst="roundRect">
            <a:avLst/>
          </a:prstGeom>
          <a:solidFill>
            <a:srgbClr val="28996C"/>
          </a:solidFill>
          <a:ln>
            <a:solidFill>
              <a:srgbClr val="289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4919472"/>
            <a:ext cx="12344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14213D"/>
                </a:solidFill>
                <a:latin typeface="Microsoft YaHei"/>
              </a:rPr>
              <a:t>¥ 36,000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1240" y="4919472"/>
            <a:ext cx="6858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Microsoft YaHei"/>
              </a:rPr>
              <a:t>12%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5522975"/>
            <a:ext cx="14630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预备金使用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148840" y="5586983"/>
            <a:ext cx="6080760" cy="164592"/>
          </a:xfrm>
          <a:prstGeom prst="roundRect">
            <a:avLst/>
          </a:prstGeom>
          <a:solidFill>
            <a:srgbClr val="D7DFE9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148840" y="5586983"/>
            <a:ext cx="608076" cy="164592"/>
          </a:xfrm>
          <a:prstGeom prst="roundRect">
            <a:avLst/>
          </a:prstGeom>
          <a:solidFill>
            <a:srgbClr val="E09726"/>
          </a:solidFill>
          <a:ln>
            <a:solidFill>
              <a:srgbClr val="E09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20" y="5486399"/>
            <a:ext cx="12344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14213D"/>
                </a:solidFill>
                <a:latin typeface="Microsoft YaHei"/>
              </a:rPr>
              <a:t>¥ 22,000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1240" y="5486399"/>
            <a:ext cx="6858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Microsoft YaHei"/>
              </a:rPr>
              <a:t>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153912"/>
            <a:ext cx="10607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B5CAA"/>
                </a:solidFill>
                <a:latin typeface="Microsoft YaHei"/>
              </a:rPr>
              <a:t>判断：当前消耗率 65%，与整体交付进度基本匹配；余额优先保障审批闭环与回归测试。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B5CAA"/>
          </a:solidFill>
          <a:ln>
            <a:solidFill>
              <a:srgbClr val="2B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B5CAA"/>
                </a:solidFill>
                <a:latin typeface="Microsoft YaHei"/>
              </a:rPr>
              <a:t>NEXT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67512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13D"/>
                </a:solidFill>
                <a:latin typeface="Microsoft YaHei"/>
              </a:rPr>
              <a:t>下一步行动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10972800" cy="13716"/>
          </a:xfrm>
          <a:prstGeom prst="rect">
            <a:avLst/>
          </a:prstGeom>
          <a:solidFill>
            <a:srgbClr val="D7DFE9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61320" y="438912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Microsoft YaHei"/>
              </a:rPr>
              <a:t>05  / 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621792" cy="621792"/>
          </a:xfrm>
          <a:prstGeom prst="roundRect">
            <a:avLst/>
          </a:prstGeom>
          <a:solidFill>
            <a:srgbClr val="2B5CAA"/>
          </a:solidFill>
          <a:ln>
            <a:solidFill>
              <a:srgbClr val="2B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72768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554480"/>
            <a:ext cx="2057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Microsoft YaHei"/>
              </a:rPr>
              <a:t>完成审批闭环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929384"/>
            <a:ext cx="2057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负责人：平台组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1554480"/>
            <a:ext cx="1207008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1554480"/>
            <a:ext cx="120700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B5CAA"/>
                </a:solidFill>
                <a:latin typeface="Microsoft YaHei"/>
              </a:rPr>
              <a:t>9 月 18 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21808" y="1545336"/>
            <a:ext cx="5486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所有高风险命令具备可验证的拒绝与放行路径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642615"/>
            <a:ext cx="621792" cy="621792"/>
          </a:xfrm>
          <a:prstGeom prst="roundRect">
            <a:avLst/>
          </a:prstGeom>
          <a:solidFill>
            <a:srgbClr val="2B5CAA"/>
          </a:solidFill>
          <a:ln>
            <a:solidFill>
              <a:srgbClr val="2B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642615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624327"/>
            <a:ext cx="2057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Microsoft YaHei"/>
              </a:rPr>
              <a:t>补齐事件回归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999232"/>
            <a:ext cx="2057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负责人：领域组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2624327"/>
            <a:ext cx="1207008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94760" y="2624327"/>
            <a:ext cx="120700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B5CAA"/>
                </a:solidFill>
                <a:latin typeface="Microsoft YaHei"/>
              </a:rPr>
              <a:t>9 月 20 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1808" y="2615184"/>
            <a:ext cx="5486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状态变化事件覆盖率达到 100%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712463"/>
            <a:ext cx="621792" cy="621792"/>
          </a:xfrm>
          <a:prstGeom prst="roundRect">
            <a:avLst/>
          </a:prstGeom>
          <a:solidFill>
            <a:srgbClr val="2B5CAA"/>
          </a:solidFill>
          <a:ln>
            <a:solidFill>
              <a:srgbClr val="2B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712463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694176"/>
            <a:ext cx="2057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Microsoft YaHei"/>
              </a:rPr>
              <a:t>执行租户隔离测试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069079"/>
            <a:ext cx="2057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负责人：质量组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94760" y="3694176"/>
            <a:ext cx="1207008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94760" y="3694176"/>
            <a:ext cx="120700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B5CAA"/>
                </a:solidFill>
                <a:latin typeface="Microsoft YaHei"/>
              </a:rPr>
              <a:t>9 月 22 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21808" y="3685031"/>
            <a:ext cx="5486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跨租户访问负例全部通过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782312"/>
            <a:ext cx="621792" cy="621792"/>
          </a:xfrm>
          <a:prstGeom prst="roundRect">
            <a:avLst/>
          </a:prstGeom>
          <a:solidFill>
            <a:srgbClr val="2B5CAA"/>
          </a:solidFill>
          <a:ln>
            <a:solidFill>
              <a:srgbClr val="2B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4782312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4764024"/>
            <a:ext cx="2057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Microsoft YaHei"/>
              </a:rPr>
              <a:t>形成交付包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5138927"/>
            <a:ext cx="2057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负责人：交付组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94760" y="4764024"/>
            <a:ext cx="1207008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94760" y="4764024"/>
            <a:ext cx="120700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B5CAA"/>
                </a:solidFill>
                <a:latin typeface="Microsoft YaHei"/>
              </a:rPr>
              <a:t>9 月 25 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21808" y="4754879"/>
            <a:ext cx="5486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</a:rPr>
              <a:t>ResultPackage 可审计、可下载、可复核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980176"/>
            <a:ext cx="1051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30ADDC"/>
                </a:solidFill>
                <a:latin typeface="Microsoft YaHei"/>
              </a:rPr>
              <a:t>决策请求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19072" y="5934456"/>
            <a:ext cx="9464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Microsoft YaHei"/>
              </a:rPr>
              <a:t>同意将剩余预算优先投入审批闭环、隔离验证与交付验收。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